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8118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Shape 1"/>
          <p:cNvSpPr/>
          <p:nvPr/>
        </p:nvSpPr>
        <p:spPr>
          <a:xfrm>
            <a:off x="7132320" y="27432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4" name="Shape 2"/>
          <p:cNvSpPr/>
          <p:nvPr/>
        </p:nvSpPr>
        <p:spPr>
          <a:xfrm>
            <a:off x="7452360" y="27432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5" name="Shape 3"/>
          <p:cNvSpPr/>
          <p:nvPr/>
        </p:nvSpPr>
        <p:spPr>
          <a:xfrm>
            <a:off x="7772400" y="27432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6" name="Shape 4"/>
          <p:cNvSpPr/>
          <p:nvPr/>
        </p:nvSpPr>
        <p:spPr>
          <a:xfrm>
            <a:off x="8092440" y="27432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7" name="Shape 5"/>
          <p:cNvSpPr/>
          <p:nvPr/>
        </p:nvSpPr>
        <p:spPr>
          <a:xfrm>
            <a:off x="8412480" y="27432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8" name="Shape 6"/>
          <p:cNvSpPr/>
          <p:nvPr/>
        </p:nvSpPr>
        <p:spPr>
          <a:xfrm>
            <a:off x="7132320" y="59436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9" name="Shape 7"/>
          <p:cNvSpPr/>
          <p:nvPr/>
        </p:nvSpPr>
        <p:spPr>
          <a:xfrm>
            <a:off x="7452360" y="59436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0" name="Shape 8"/>
          <p:cNvSpPr/>
          <p:nvPr/>
        </p:nvSpPr>
        <p:spPr>
          <a:xfrm>
            <a:off x="7772400" y="59436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1" name="Shape 9"/>
          <p:cNvSpPr/>
          <p:nvPr/>
        </p:nvSpPr>
        <p:spPr>
          <a:xfrm>
            <a:off x="8092440" y="59436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2" name="Shape 10"/>
          <p:cNvSpPr/>
          <p:nvPr/>
        </p:nvSpPr>
        <p:spPr>
          <a:xfrm>
            <a:off x="8412480" y="59436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3" name="Shape 11"/>
          <p:cNvSpPr/>
          <p:nvPr/>
        </p:nvSpPr>
        <p:spPr>
          <a:xfrm>
            <a:off x="7132320" y="91440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4" name="Shape 12"/>
          <p:cNvSpPr/>
          <p:nvPr/>
        </p:nvSpPr>
        <p:spPr>
          <a:xfrm>
            <a:off x="7452360" y="91440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5" name="Shape 13"/>
          <p:cNvSpPr/>
          <p:nvPr/>
        </p:nvSpPr>
        <p:spPr>
          <a:xfrm>
            <a:off x="7772400" y="91440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7" name="Shape 15"/>
          <p:cNvSpPr/>
          <p:nvPr/>
        </p:nvSpPr>
        <p:spPr>
          <a:xfrm>
            <a:off x="8412480" y="91440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8" name="Shape 16"/>
          <p:cNvSpPr/>
          <p:nvPr/>
        </p:nvSpPr>
        <p:spPr>
          <a:xfrm>
            <a:off x="7132320" y="123444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9" name="Shape 17"/>
          <p:cNvSpPr/>
          <p:nvPr/>
        </p:nvSpPr>
        <p:spPr>
          <a:xfrm>
            <a:off x="7452360" y="123444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0" name="Shape 18"/>
          <p:cNvSpPr/>
          <p:nvPr/>
        </p:nvSpPr>
        <p:spPr>
          <a:xfrm>
            <a:off x="7772400" y="123444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1" name="Shape 19"/>
          <p:cNvSpPr/>
          <p:nvPr/>
        </p:nvSpPr>
        <p:spPr>
          <a:xfrm>
            <a:off x="8092440" y="123444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2" name="Shape 20"/>
          <p:cNvSpPr/>
          <p:nvPr/>
        </p:nvSpPr>
        <p:spPr>
          <a:xfrm>
            <a:off x="8412480" y="123444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3" name="Shape 21"/>
          <p:cNvSpPr/>
          <p:nvPr/>
        </p:nvSpPr>
        <p:spPr>
          <a:xfrm>
            <a:off x="7132320" y="155448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4" name="Shape 22"/>
          <p:cNvSpPr/>
          <p:nvPr/>
        </p:nvSpPr>
        <p:spPr>
          <a:xfrm>
            <a:off x="7452360" y="155448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5" name="Shape 23"/>
          <p:cNvSpPr/>
          <p:nvPr/>
        </p:nvSpPr>
        <p:spPr>
          <a:xfrm>
            <a:off x="7772400" y="155448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6" name="Shape 24"/>
          <p:cNvSpPr/>
          <p:nvPr/>
        </p:nvSpPr>
        <p:spPr>
          <a:xfrm>
            <a:off x="8092440" y="155448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7" name="Shape 25"/>
          <p:cNvSpPr/>
          <p:nvPr/>
        </p:nvSpPr>
        <p:spPr>
          <a:xfrm>
            <a:off x="8412480" y="155448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8" name="Text 26"/>
          <p:cNvSpPr/>
          <p:nvPr/>
        </p:nvSpPr>
        <p:spPr>
          <a:xfrm>
            <a:off x="502920" y="5486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SAIL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" y="1143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Weekly Meeting</a:t>
            </a:r>
            <a:endParaRPr lang="en-US" sz="5200" dirty="0"/>
          </a:p>
        </p:txBody>
      </p:sp>
      <p:sp>
        <p:nvSpPr>
          <p:cNvPr id="30" name="Text 28"/>
          <p:cNvSpPr/>
          <p:nvPr/>
        </p:nvSpPr>
        <p:spPr>
          <a:xfrm>
            <a:off x="502920" y="2606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99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March 25, 2026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02920" y="3337560"/>
            <a:ext cx="2834640" cy="594360"/>
          </a:xfrm>
          <a:prstGeom prst="roundRect">
            <a:avLst>
              <a:gd name="adj" fmla="val 15385"/>
            </a:avLst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32" name="Text 30"/>
          <p:cNvSpPr/>
          <p:nvPr/>
        </p:nvSpPr>
        <p:spPr>
          <a:xfrm>
            <a:off x="502920" y="33375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📰  AI &amp; DS News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703320" y="3337560"/>
            <a:ext cx="2834640" cy="594360"/>
          </a:xfrm>
          <a:prstGeom prst="roundRect">
            <a:avLst>
              <a:gd name="adj" fmla="val 15385"/>
            </a:avLst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34" name="Text 32"/>
          <p:cNvSpPr/>
          <p:nvPr/>
        </p:nvSpPr>
        <p:spPr>
          <a:xfrm>
            <a:off x="3703320" y="33375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Intro to Kaggle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C9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>
                    <a:alpha val="1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&amp; DATA SCIENCE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 ROUNDUP  •  March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been happening in the world of AI and data science?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STORY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Drives a Mars Rover — No Human Required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286000" cy="2194560"/>
          </a:xfrm>
          <a:prstGeom prst="rect">
            <a:avLst/>
          </a:prstGeom>
          <a:solidFill>
            <a:srgbClr val="00C9A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456</a:t>
            </a:r>
            <a:endParaRPr lang="en-US" sz="52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meters</a:t>
            </a:r>
            <a:endParaRPr lang="en-US" sz="52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driven on Mars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834640" y="118872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NASA's Perseverance rover completed the first AI-planned drives on another planet in December 2025, with results announced in early 2026.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34640" y="21945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worked: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(Anthropic's AI) used vision-language models to analyze orbital imagery, identify hazards like boulder fields and sand ripples, and generate a safe waypoint path.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3520440"/>
            <a:ext cx="8503920" cy="11887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Why it matters for us:  </a:t>
            </a: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vision-language AI being applied to real-world autonomous decision making, the same category of models behind tools we use daily. It also shows AI as a 'multiplier' at NASA, which faces budget and staffing cuts.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NASA JPL / Anthropic, Jan–Feb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💼  STORY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AI &amp; Data Science Job Market in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700+ job postings reveal: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 skills now appear in 1 in 3 DS job postings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roles: ML Engineer, AI Researcher, Data Engineer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Companies adopting AI hire 20%+ more than non-adopters (Harvard study)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CDO / Chief Data Officer role at an all-time high (70% call it successful)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3840480" cy="12344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9" name="Text 7"/>
          <p:cNvSpPr/>
          <p:nvPr/>
        </p:nvSpPr>
        <p:spPr>
          <a:xfrm>
            <a:off x="4937760" y="11430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074920" y="1737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large orgs say CDO role is established &amp; successful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2514600"/>
            <a:ext cx="3840480" cy="12344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2" name="Text 10"/>
          <p:cNvSpPr/>
          <p:nvPr/>
        </p:nvSpPr>
        <p:spPr>
          <a:xfrm>
            <a:off x="4937760" y="25603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20%+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074920" y="3154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hiring at AI-adopting companies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840480"/>
            <a:ext cx="8503920" cy="9144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For us:  </a:t>
            </a: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 proficiency is now expected, not a bonus. Data engineering and MLOps skills alongside classic ML are increasingly what employers want. Building a Kaggle portfolio helps!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Data Science Collective / Medium, Mar 2026 • MIT Sloan Benchmark Survey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9144000" cy="203454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5943600" y="9144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0" b="1" dirty="0">
                <a:solidFill>
                  <a:srgbClr val="FFFFFF">
                    <a:alpha val="8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 TO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Kaggle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is, why it matters, and how we'll use it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Kaggle?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09728" cy="173736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6" name="Text 4"/>
          <p:cNvSpPr/>
          <p:nvPr/>
        </p:nvSpPr>
        <p:spPr>
          <a:xfrm>
            <a:off x="548640" y="12527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🗃️  Datasets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Thousands of free, real-world datasets on everything from healthcare to sports to finance. Perfect for side projects or practice.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109728" cy="173736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0" name="Text 8"/>
          <p:cNvSpPr/>
          <p:nvPr/>
        </p:nvSpPr>
        <p:spPr>
          <a:xfrm>
            <a:off x="4983480" y="12527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📓  Notebooks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709928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hosted Jupyter-like environment with free GPU/TPU access. You can code right in the browser — no setup needed.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306324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3" name="Shape 11"/>
          <p:cNvSpPr/>
          <p:nvPr/>
        </p:nvSpPr>
        <p:spPr>
          <a:xfrm>
            <a:off x="320040" y="3063240"/>
            <a:ext cx="109728" cy="173736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4" name="Text 12"/>
          <p:cNvSpPr/>
          <p:nvPr/>
        </p:nvSpPr>
        <p:spPr>
          <a:xfrm>
            <a:off x="548640" y="3172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🏅  Competitions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630168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Companies (Google, Meta, Kaggle itself) post real ML problems with cash prizes. You build a model and submit predictions.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109728" cy="173736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8" name="Text 16"/>
          <p:cNvSpPr/>
          <p:nvPr/>
        </p:nvSpPr>
        <p:spPr>
          <a:xfrm>
            <a:off x="4983480" y="3172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Courses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3630168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micro-courses in Python, ML, deep learning, feature engineering, etc. Great for filling gaps.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Anatomy of a Competition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67512" y="1097280"/>
            <a:ext cx="777240" cy="77724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5" name="Text 3"/>
          <p:cNvSpPr/>
          <p:nvPr/>
        </p:nvSpPr>
        <p:spPr>
          <a:xfrm>
            <a:off x="667512" y="1097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27632" y="1426464"/>
            <a:ext cx="320040" cy="109728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7" name="Shape 5"/>
          <p:cNvSpPr/>
          <p:nvPr/>
        </p:nvSpPr>
        <p:spPr>
          <a:xfrm>
            <a:off x="164592" y="2011680"/>
            <a:ext cx="1645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8" name="Shape 6"/>
          <p:cNvSpPr/>
          <p:nvPr/>
        </p:nvSpPr>
        <p:spPr>
          <a:xfrm>
            <a:off x="164592" y="2011680"/>
            <a:ext cx="1645920" cy="7315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9" name="Text 7"/>
          <p:cNvSpPr/>
          <p:nvPr/>
        </p:nvSpPr>
        <p:spPr>
          <a:xfrm>
            <a:off x="237744" y="21031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" y="2560320"/>
            <a:ext cx="14630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Kaggle posts a task: "predict house prices" or "classify images".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32304" y="1097280"/>
            <a:ext cx="777240" cy="77724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2" name="Text 10"/>
          <p:cNvSpPr/>
          <p:nvPr/>
        </p:nvSpPr>
        <p:spPr>
          <a:xfrm>
            <a:off x="2432304" y="1097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92424" y="1426464"/>
            <a:ext cx="320040" cy="109728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4" name="Shape 12"/>
          <p:cNvSpPr/>
          <p:nvPr/>
        </p:nvSpPr>
        <p:spPr>
          <a:xfrm>
            <a:off x="1929384" y="2011680"/>
            <a:ext cx="1645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5" name="Shape 13"/>
          <p:cNvSpPr/>
          <p:nvPr/>
        </p:nvSpPr>
        <p:spPr>
          <a:xfrm>
            <a:off x="1929384" y="2011680"/>
            <a:ext cx="1645920" cy="7315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6" name="Text 14"/>
          <p:cNvSpPr/>
          <p:nvPr/>
        </p:nvSpPr>
        <p:spPr>
          <a:xfrm>
            <a:off x="2002536" y="21031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20824" y="2560320"/>
            <a:ext cx="14630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download train.csv (labeled) and test.csv (no labels) and explore.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97096" y="1097280"/>
            <a:ext cx="777240" cy="77724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9" name="Text 17"/>
          <p:cNvSpPr/>
          <p:nvPr/>
        </p:nvSpPr>
        <p:spPr>
          <a:xfrm>
            <a:off x="4197096" y="1097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157216" y="1426464"/>
            <a:ext cx="320040" cy="109728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1" name="Shape 19"/>
          <p:cNvSpPr/>
          <p:nvPr/>
        </p:nvSpPr>
        <p:spPr>
          <a:xfrm>
            <a:off x="3694176" y="2011680"/>
            <a:ext cx="1645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22" name="Shape 20"/>
          <p:cNvSpPr/>
          <p:nvPr/>
        </p:nvSpPr>
        <p:spPr>
          <a:xfrm>
            <a:off x="3694176" y="2011680"/>
            <a:ext cx="1645920" cy="7315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3" name="Text 21"/>
          <p:cNvSpPr/>
          <p:nvPr/>
        </p:nvSpPr>
        <p:spPr>
          <a:xfrm>
            <a:off x="3767328" y="21031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85616" y="2560320"/>
            <a:ext cx="14630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 train your ML model. Tune hyperparameters to improve accuracy.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61888" y="1097280"/>
            <a:ext cx="777240" cy="77724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6" name="Text 24"/>
          <p:cNvSpPr/>
          <p:nvPr/>
        </p:nvSpPr>
        <p:spPr>
          <a:xfrm>
            <a:off x="5961888" y="1097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922008" y="1426464"/>
            <a:ext cx="320040" cy="109728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8" name="Shape 26"/>
          <p:cNvSpPr/>
          <p:nvPr/>
        </p:nvSpPr>
        <p:spPr>
          <a:xfrm>
            <a:off x="5458968" y="2011680"/>
            <a:ext cx="1645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29" name="Shape 27"/>
          <p:cNvSpPr/>
          <p:nvPr/>
        </p:nvSpPr>
        <p:spPr>
          <a:xfrm>
            <a:off x="5458968" y="2011680"/>
            <a:ext cx="1645920" cy="7315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0" name="Text 28"/>
          <p:cNvSpPr/>
          <p:nvPr/>
        </p:nvSpPr>
        <p:spPr>
          <a:xfrm>
            <a:off x="5532120" y="21031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50408" y="2560320"/>
            <a:ext cx="14630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a predictions file. The leaderboard updates your public score instantly.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26680" y="1097280"/>
            <a:ext cx="777240" cy="77724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3" name="Text 31"/>
          <p:cNvSpPr/>
          <p:nvPr/>
        </p:nvSpPr>
        <p:spPr>
          <a:xfrm>
            <a:off x="7726680" y="1097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223760" y="2011680"/>
            <a:ext cx="1645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35" name="Shape 33"/>
          <p:cNvSpPr/>
          <p:nvPr/>
        </p:nvSpPr>
        <p:spPr>
          <a:xfrm>
            <a:off x="7223760" y="2011680"/>
            <a:ext cx="1645920" cy="7315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6" name="Text 34"/>
          <p:cNvSpPr/>
          <p:nvPr/>
        </p:nvSpPr>
        <p:spPr>
          <a:xfrm>
            <a:off x="7296912" y="21031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0" y="2560320"/>
            <a:ext cx="14630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 errors, try new features or models, resubmit. Repeat until deadline.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Each competition comes with a discussion forum and notebooks shared by other participants, a huge learning resource!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Kaggle Rank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64592" cy="685800"/>
          </a:xfrm>
          <a:prstGeom prst="rect">
            <a:avLst/>
          </a:prstGeom>
          <a:solidFill>
            <a:srgbClr val="95A5A6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⚪  Novice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14300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Just signed up. Explore datasets and run notebooks.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01952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164592" cy="685800"/>
          </a:xfrm>
          <a:prstGeom prst="rect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0" name="Text 8"/>
          <p:cNvSpPr/>
          <p:nvPr/>
        </p:nvSpPr>
        <p:spPr>
          <a:xfrm>
            <a:off x="640080" y="190195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🔵  Contributor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190195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a few tasks: run a notebook, make a submission, vote on a discussion.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660904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3" name="Shape 11"/>
          <p:cNvSpPr/>
          <p:nvPr/>
        </p:nvSpPr>
        <p:spPr>
          <a:xfrm>
            <a:off x="320040" y="2660904"/>
            <a:ext cx="164592" cy="68580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4" name="Text 12"/>
          <p:cNvSpPr/>
          <p:nvPr/>
        </p:nvSpPr>
        <p:spPr>
          <a:xfrm>
            <a:off x="640080" y="2660904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🟢  Expert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660904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 a bronze medal in competitions or datasets. Shows real ML chops.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419856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7" name="Shape 15"/>
          <p:cNvSpPr/>
          <p:nvPr/>
        </p:nvSpPr>
        <p:spPr>
          <a:xfrm>
            <a:off x="320040" y="3419856"/>
            <a:ext cx="164592" cy="6858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8" name="Text 16"/>
          <p:cNvSpPr/>
          <p:nvPr/>
        </p:nvSpPr>
        <p:spPr>
          <a:xfrm>
            <a:off x="640080" y="3419856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🟡  Master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3419856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gold/silver medals. Very strong competitors.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178808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21" name="Shape 19"/>
          <p:cNvSpPr/>
          <p:nvPr/>
        </p:nvSpPr>
        <p:spPr>
          <a:xfrm>
            <a:off x="320040" y="4178808"/>
            <a:ext cx="164592" cy="6858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22" name="Text 20"/>
          <p:cNvSpPr/>
          <p:nvPr/>
        </p:nvSpPr>
        <p:spPr>
          <a:xfrm>
            <a:off x="640080" y="417880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🔴  Grandmaster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0" y="4178808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0.1% globally. Multiple competition golds.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SAIL × Kaggle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8503920" cy="1097280"/>
          </a:xfrm>
          <a:prstGeom prst="rect">
            <a:avLst/>
          </a:prstGeom>
          <a:solidFill>
            <a:srgbClr val="00C9A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51760" y="118872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 to Kaggle: what it is, how competitions work, create your account!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423160"/>
            <a:ext cx="8503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164592" cy="10972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WEEK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51760" y="242316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Walk through a starter competition together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Titanic Survival Prediction (the 'Hello World' of Kaggle).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657600"/>
            <a:ext cx="8503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S"/>
          </a:p>
        </p:txBody>
      </p:sp>
      <p:sp>
        <p:nvSpPr>
          <p:cNvPr id="14" name="Shape 12"/>
          <p:cNvSpPr/>
          <p:nvPr/>
        </p:nvSpPr>
        <p:spPr>
          <a:xfrm>
            <a:off x="320040" y="3657600"/>
            <a:ext cx="164592" cy="10972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ES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C34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Compete!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51760" y="365760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a beginner-friendly competition. Build and submit as a team. Share notebooks and strategies.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687</Words>
  <Application>Microsoft Macintosh PowerPoint</Application>
  <PresentationFormat>On-screen Show (16:9)</PresentationFormat>
  <Paragraphs>93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SAIL – Weekly Meeting</dc:title>
  <dc:subject>PptxGenJS Presentation</dc:subject>
  <dc:creator>PptxGenJS</dc:creator>
  <cp:lastModifiedBy>Pol Monné Parera</cp:lastModifiedBy>
  <cp:revision>2</cp:revision>
  <dcterms:created xsi:type="dcterms:W3CDTF">2026-03-24T21:49:56Z</dcterms:created>
  <dcterms:modified xsi:type="dcterms:W3CDTF">2026-03-24T21:58:06Z</dcterms:modified>
</cp:coreProperties>
</file>